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Noto Sans KR"/>
      <p:regular r:id="rId18"/>
      <p:bold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EB8854-A7D7-40BF-9070-3E01ADAF2C5A}">
  <a:tblStyle styleId="{F9EB8854-A7D7-40BF-9070-3E01ADAF2C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7" Type="http://schemas.openxmlformats.org/officeDocument/2006/relationships/font" Target="fonts/Poppi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NotoSansKR-bold.fntdata"/><Relationship Id="rId18" Type="http://schemas.openxmlformats.org/officeDocument/2006/relationships/font" Target="fonts/NotoSansK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2.png"/><Relationship Id="rId6" Type="http://schemas.openxmlformats.org/officeDocument/2006/relationships/image" Target="../media/image32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10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10" Type="http://schemas.openxmlformats.org/officeDocument/2006/relationships/image" Target="../media/image11.png"/><Relationship Id="rId9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35.png"/><Relationship Id="rId13" Type="http://schemas.openxmlformats.org/officeDocument/2006/relationships/image" Target="../media/image20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39.png"/><Relationship Id="rId1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Relationship Id="rId7" Type="http://schemas.openxmlformats.org/officeDocument/2006/relationships/image" Target="../media/image33.png"/><Relationship Id="rId8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29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Relationship Id="rId7" Type="http://schemas.openxmlformats.org/officeDocument/2006/relationships/image" Target="../media/image21.png"/><Relationship Id="rId8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326558"/>
            <a:ext cx="5372100" cy="769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259085"/>
            <a:ext cx="5372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SILICON2 GLOBAL MARKET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1573410"/>
            <a:ext cx="564070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아누아 브랜드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글로벌 시장 분석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5536108"/>
            <a:ext cx="53721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권역: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미국 · 유럽 · 중동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722739"/>
            <a:ext cx="53721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조사 기간: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2025.01 – 12 (12개월 누적)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5909369"/>
            <a:ext cx="53721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생성 일자: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2026-06-24  |  </a:t>
            </a:r>
            <a:r>
              <a:rPr b="1" i="0" lang="en-US" sz="10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작성부서: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실리콘투 기획분석팀 · 거래처용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762000"/>
            <a:ext cx="2088207" cy="306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45457" y="762000"/>
            <a:ext cx="1328142" cy="306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857250"/>
            <a:ext cx="10596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05600" y="0"/>
            <a:ext cx="7552875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7100" y="5770364"/>
            <a:ext cx="4152900" cy="325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705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277100" y="762000"/>
            <a:ext cx="4152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REPORT OVERVIEW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419975" y="1009650"/>
            <a:ext cx="421052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277100" y="1009650"/>
            <a:ext cx="57150" cy="3429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277100" y="1685925"/>
            <a:ext cx="333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800975" y="1719262"/>
            <a:ext cx="2357735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국가 — </a:t>
            </a: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국가별 판매 순위 및 동향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277100" y="2169765"/>
            <a:ext cx="333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800975" y="2203102"/>
            <a:ext cx="2833985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브랜드 — </a:t>
            </a: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K-뷰티 핵심 브랜드 경쟁 분석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277100" y="2653605"/>
            <a:ext cx="333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800975" y="2686942"/>
            <a:ext cx="2978497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SKU — </a:t>
            </a: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아누아(Anua) 핵심 SKU 성장 분석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277100" y="3137445"/>
            <a:ext cx="333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800975" y="3170783"/>
            <a:ext cx="2809130" cy="226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공유 — </a:t>
            </a:r>
            <a:r>
              <a:rPr b="0" i="0" lang="en-US" sz="127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민감 정보 제외 및 공유 기준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/>
        </p:nvSpPr>
        <p:spPr>
          <a:xfrm>
            <a:off x="762000" y="762000"/>
            <a:ext cx="51816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1619250"/>
            <a:ext cx="544068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국가별 판매 순위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2268735"/>
            <a:ext cx="5181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미국, 프랑스, UAE를 포함한 글로벌 주요 권역별 아누아 브랜드의 누적 매출 성과 및 시장 점유율 분석 현황을 다룹니다.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6050309"/>
            <a:ext cx="10763250" cy="283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038350"/>
            <a:ext cx="5238750" cy="319266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85825" y="523875"/>
            <a:ext cx="111213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01 국가</a:t>
            </a:r>
            <a:r>
              <a:rPr b="1" i="0" lang="en-US" sz="270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 국가별 판매 순위 및 성장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714375" y="6174134"/>
            <a:ext cx="230981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SILICON2 GLOBAL MARKET TREND REPORT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983241" y="6174134"/>
            <a:ext cx="149438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PARTNER VIEW · 민감정보 제외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83241" y="6193184"/>
            <a:ext cx="88999" cy="114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714375" y="2085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{F9EB8854-A7D7-40BF-9070-3E01ADAF2C5A}</a:tableStyleId>
              </a:tblPr>
              <a:tblGrid>
                <a:gridCol w="628650"/>
                <a:gridCol w="1285875"/>
                <a:gridCol w="1090175"/>
                <a:gridCol w="1098350"/>
                <a:gridCol w="1135700"/>
              </a:tblGrid>
              <a:tr h="52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순위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국가명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매출 규모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시장 점유율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성장률 (YoY)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</a:tr>
              <a:tr h="52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미국 (USA)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₩27.6억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+18.4%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프랑스 (FRA)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₩12.5억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+9.2%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UAE (아랍에미리트)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₩9.8억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+24.0%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영국 (GBR)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₩8.0억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+6.1%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4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독일 (DEU)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₩6.2억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-3.0%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714375" y="2538412"/>
            <a:ext cx="628650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343025" y="2538412"/>
            <a:ext cx="1285875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628900" y="2538412"/>
            <a:ext cx="1090166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719066" y="2538412"/>
            <a:ext cx="1098351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817417" y="2538412"/>
            <a:ext cx="1135707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6707832" y="2286000"/>
            <a:ext cx="4748249" cy="226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국가별 시장 핵심 요약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486525" y="2626965"/>
            <a:ext cx="47434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미국 시장 지배력 지속: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미국 시장은 전체 글로벌 매출의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31%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인 ₩27.6억을 달성하여 글로벌 전체 성장의 핵심 견인 역할을 성공적으로 완수하고 있습니다.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486525" y="3381077"/>
            <a:ext cx="47434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중동(UAE) 권역 폭발적 성장: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UAE 시장은 전년 대비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+24.0%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의 압도적인 성장률을 보여주며 핵심 차세대 전략 권역으로 급부상 중입니다.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486525" y="4135189"/>
            <a:ext cx="47434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유럽(독일) 채널 개선 필요: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유럽 거점인 독일은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-3.0%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성장을 기록하며 오프라인 재배치 등 유통 채널 효율화 처방이 필요한 시점입니다.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714375" y="3071812"/>
            <a:ext cx="628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343025" y="3071812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2628900" y="3071812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719066" y="3071812"/>
            <a:ext cx="109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4817417" y="3071812"/>
            <a:ext cx="11357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14375" y="3576637"/>
            <a:ext cx="628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1343025" y="3576637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628900" y="3576637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3719066" y="3576637"/>
            <a:ext cx="109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4817417" y="3576637"/>
            <a:ext cx="11357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14375" y="4207073"/>
            <a:ext cx="628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1343025" y="4207073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628900" y="4207073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719066" y="4207073"/>
            <a:ext cx="109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4817417" y="4207073"/>
            <a:ext cx="11357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714375" y="4711898"/>
            <a:ext cx="628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343025" y="4711898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2628900" y="4711898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719066" y="4711898"/>
            <a:ext cx="109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4817417" y="4711898"/>
            <a:ext cx="11357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14375" y="5216723"/>
            <a:ext cx="628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343025" y="5216723"/>
            <a:ext cx="12858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628900" y="5216723"/>
            <a:ext cx="10901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3719066" y="5216723"/>
            <a:ext cx="10983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817417" y="5216723"/>
            <a:ext cx="11357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318295"/>
            <a:ext cx="126057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270510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320992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4875" y="3777555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/>
        </p:nvSpPr>
        <p:spPr>
          <a:xfrm>
            <a:off x="762000" y="762000"/>
            <a:ext cx="51816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762000" y="1619250"/>
            <a:ext cx="544068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브랜드 경쟁 순위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2268735"/>
            <a:ext cx="5181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경쟁사(경쟁사 A, 경쟁사 B, 경쟁사 C 등)와 자사 브랜드 아누아의 매출, 원가 및 마진 구조를 전격 비교하여 시장 점유 능력을 검토합니다.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6050309"/>
            <a:ext cx="10763250" cy="283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9912" y="2127349"/>
            <a:ext cx="4843462" cy="301466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885825" y="523875"/>
            <a:ext cx="111213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02 브랜드</a:t>
            </a:r>
            <a:r>
              <a:rPr b="1" i="0" lang="en-US" sz="270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 브랜드 경쟁 순위 및 공유지표 비교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714375" y="6174134"/>
            <a:ext cx="230981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SILICON2 GLOBAL MARKET TREND REPORT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983241" y="6174134"/>
            <a:ext cx="149438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PARTNER VIEW · 민감정보 제외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83241" y="6193184"/>
            <a:ext cx="88999" cy="114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18"/>
          <p:cNvGraphicFramePr/>
          <p:nvPr/>
        </p:nvGraphicFramePr>
        <p:xfrm>
          <a:off x="714375" y="21773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{F9EB8854-A7D7-40BF-9070-3E01ADAF2C5A}</a:tableStyleId>
              </a:tblPr>
              <a:tblGrid>
                <a:gridCol w="660500"/>
                <a:gridCol w="1640525"/>
                <a:gridCol w="1443625"/>
                <a:gridCol w="1181100"/>
                <a:gridCol w="984500"/>
              </a:tblGrid>
              <a:tr h="49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순위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브랜드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매출 규모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공유지표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성장률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경쟁사 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₩31.9억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+14.2%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아누아 (자사)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₩27.6억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B91C1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+22.8%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경쟁사 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₩24.9억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+8.4%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경쟁사 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₩21.6억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+17.1%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코스알엑스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₩18.9억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+5.2%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8"/>
          <p:cNvSpPr txBox="1"/>
          <p:nvPr/>
        </p:nvSpPr>
        <p:spPr>
          <a:xfrm>
            <a:off x="7167562" y="2374999"/>
            <a:ext cx="43481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11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브랜드 연간 매출액 비교 (억원)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7167562" y="2651224"/>
            <a:ext cx="4348162" cy="1905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7167562" y="4337149"/>
            <a:ext cx="4348162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시장 내 마진 경쟁력 압도적 1위:</a:t>
            </a: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자사 브랜드인 </a:t>
            </a:r>
            <a:r>
              <a:rPr b="1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아누아</a:t>
            </a: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는 공유지표 </a:t>
            </a:r>
            <a:r>
              <a:rPr b="1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비공개</a:t>
            </a: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를 실현하며 주요 5대 브랜드 중 최고 수익성을 확보하고 있으며 성장 가속화 역시 가장 높습니다 (+22.8%).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719137" y="2572642"/>
            <a:ext cx="660499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379636" y="2572642"/>
            <a:ext cx="1640532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3020169" y="2572642"/>
            <a:ext cx="1443632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4463801" y="2572642"/>
            <a:ext cx="1181100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644901" y="2572642"/>
            <a:ext cx="984498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7562" y="2413099"/>
            <a:ext cx="11117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719137" y="3106042"/>
            <a:ext cx="660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1379636" y="3106042"/>
            <a:ext cx="1640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020169" y="3106042"/>
            <a:ext cx="1443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463801" y="3106042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5644901" y="3106042"/>
            <a:ext cx="984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719137" y="3610867"/>
            <a:ext cx="660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1379636" y="3610867"/>
            <a:ext cx="1640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3020169" y="3610867"/>
            <a:ext cx="1443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463801" y="3610867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5644901" y="3610867"/>
            <a:ext cx="984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719137" y="4115692"/>
            <a:ext cx="660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379636" y="4115692"/>
            <a:ext cx="1640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3020169" y="4115692"/>
            <a:ext cx="1443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463801" y="4115692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644901" y="4115692"/>
            <a:ext cx="984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719137" y="4620517"/>
            <a:ext cx="660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1379636" y="4620517"/>
            <a:ext cx="1640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3020169" y="4620517"/>
            <a:ext cx="1443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4463801" y="4620517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5644901" y="4620517"/>
            <a:ext cx="984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719137" y="5125342"/>
            <a:ext cx="660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1379636" y="5125342"/>
            <a:ext cx="16405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020169" y="5125342"/>
            <a:ext cx="14436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463801" y="5125342"/>
            <a:ext cx="1181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5644901" y="5125342"/>
            <a:ext cx="984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6" name="Google Shape;22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5562" y="273933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7943" y="324415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5562" y="3748980"/>
            <a:ext cx="2476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/>
        </p:nvSpPr>
        <p:spPr>
          <a:xfrm>
            <a:off x="762000" y="762000"/>
            <a:ext cx="51816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25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62000" y="1619250"/>
            <a:ext cx="5440680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SKU 성장 분석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762000" y="2268735"/>
            <a:ext cx="5181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어성초 및 피치 라인 등 아누아 브랜드를 전폭적으로 견인하는 대표 상품군(SKU)별 상세 매출 기여도 및 재고 가용 능력을 모니터링합니다.</a:t>
            </a:r>
            <a:endParaRPr/>
          </a:p>
        </p:txBody>
      </p:sp>
      <p:pic>
        <p:nvPicPr>
          <p:cNvPr descr="image.png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1325" y="0"/>
            <a:ext cx="544067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6050309"/>
            <a:ext cx="10763250" cy="283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4511873"/>
            <a:ext cx="10763250" cy="716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2088951"/>
            <a:ext cx="2547937" cy="2232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52812" y="2088951"/>
            <a:ext cx="2547937" cy="2232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91250" y="2088951"/>
            <a:ext cx="2547937" cy="2232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29687" y="2088951"/>
            <a:ext cx="2547937" cy="2232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64468" y="2584251"/>
            <a:ext cx="104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02906" y="2584251"/>
            <a:ext cx="104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41343" y="2584251"/>
            <a:ext cx="104775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79781" y="2584251"/>
            <a:ext cx="10477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885825" y="523875"/>
            <a:ext cx="111213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03 SKU</a:t>
            </a:r>
            <a:r>
              <a:rPr b="1" i="0" lang="en-US" sz="270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 아누아 핵심 SKU 성장 및 공급 안정성</a:t>
            </a:r>
            <a:endParaRPr/>
          </a:p>
        </p:txBody>
      </p:sp>
      <p:sp>
        <p:nvSpPr>
          <p:cNvPr id="254" name="Google Shape;254;p20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714375" y="6174134"/>
            <a:ext cx="230981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SILICON2 GLOBAL MARKET TREND REPORT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9983241" y="6174134"/>
            <a:ext cx="149438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PARTNER VIEW · 민감정보 제외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962025" y="4673798"/>
            <a:ext cx="10370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공급망 전략 권고: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2032545" y="4673798"/>
            <a:ext cx="118095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피치 70 나이아 세럼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4280743" y="4673798"/>
            <a:ext cx="33664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+81%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7853064" y="4673798"/>
            <a:ext cx="2629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64%</a:t>
            </a:r>
            <a:endParaRPr/>
          </a:p>
        </p:txBody>
      </p:sp>
      <p:pic>
        <p:nvPicPr>
          <p:cNvPr descr="image.png" id="261" name="Google Shape;26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983241" y="6193184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866775" y="2288976"/>
            <a:ext cx="2243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어성초 77 수딩 토너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3605212" y="2288976"/>
            <a:ext cx="2243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어성초 클렌징 오일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6343650" y="2288976"/>
            <a:ext cx="2243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피치 70 나이아 세럼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9082087" y="2288976"/>
            <a:ext cx="22431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어성초 토너 패드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1692771" y="2865239"/>
            <a:ext cx="59114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+28%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1704379" y="3204269"/>
            <a:ext cx="567779" cy="14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YoY Growth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866775" y="3774876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비중: </a:t>
            </a:r>
            <a:r>
              <a:rPr b="1" i="0" lang="en-US" sz="97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31%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866775" y="3948112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가용: </a:t>
            </a:r>
            <a:r>
              <a:rPr b="1" i="0" lang="en-US" sz="975" u="none" cap="none" strike="noStrike">
                <a:solidFill>
                  <a:srgbClr val="22C55E"/>
                </a:solidFill>
                <a:latin typeface="Noto Sans KR"/>
                <a:ea typeface="Noto Sans KR"/>
                <a:cs typeface="Noto Sans KR"/>
                <a:sym typeface="Noto Sans KR"/>
              </a:rPr>
              <a:t>86%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4431208" y="2865239"/>
            <a:ext cx="59114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+12%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4442817" y="3204269"/>
            <a:ext cx="567779" cy="14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YoY Growth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3605212" y="3774876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비중: </a:t>
            </a:r>
            <a:r>
              <a:rPr b="1" i="0" lang="en-US" sz="97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18%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3605212" y="3948112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가용: </a:t>
            </a:r>
            <a:r>
              <a:rPr b="1" i="0" lang="en-US" sz="975" u="none" cap="none" strike="noStrike">
                <a:solidFill>
                  <a:srgbClr val="EAB308"/>
                </a:solidFill>
                <a:latin typeface="Noto Sans KR"/>
                <a:ea typeface="Noto Sans KR"/>
                <a:cs typeface="Noto Sans KR"/>
                <a:sym typeface="Noto Sans KR"/>
              </a:rPr>
              <a:t>78%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120383" y="2838598"/>
            <a:ext cx="689669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+81%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7241976" y="3230909"/>
            <a:ext cx="446484" cy="14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폭풍 성장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343650" y="3774876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비중: </a:t>
            </a:r>
            <a:r>
              <a:rPr b="1" i="0" lang="en-US" sz="97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12%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6343650" y="3948112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가용: </a:t>
            </a:r>
            <a:r>
              <a:rPr b="1" i="0" lang="en-US" sz="975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64% (관리 요망)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9971633" y="2865239"/>
            <a:ext cx="46389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+6%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9919692" y="3204269"/>
            <a:ext cx="567779" cy="14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YoY Growth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9082087" y="3774876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비중: </a:t>
            </a:r>
            <a:r>
              <a:rPr b="1" i="0" lang="en-US" sz="97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9%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9082087" y="3948112"/>
            <a:ext cx="2243137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가용: </a:t>
            </a:r>
            <a:r>
              <a:rPr b="1" i="0" lang="en-US" sz="975" u="none" cap="none" strike="noStrike">
                <a:solidFill>
                  <a:srgbClr val="22C55E"/>
                </a:solidFill>
                <a:latin typeface="Noto Sans KR"/>
                <a:ea typeface="Noto Sans KR"/>
                <a:cs typeface="Noto Sans KR"/>
                <a:sym typeface="Noto Sans KR"/>
              </a:rPr>
              <a:t>91%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6050309"/>
            <a:ext cx="10763250" cy="283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8075" y="2620416"/>
            <a:ext cx="4305300" cy="20285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8100" y="3631852"/>
            <a:ext cx="3905250" cy="76944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 txBox="1"/>
          <p:nvPr/>
        </p:nvSpPr>
        <p:spPr>
          <a:xfrm>
            <a:off x="885825" y="523875"/>
            <a:ext cx="111213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04 공유</a:t>
            </a:r>
            <a:r>
              <a:rPr b="1" i="0" lang="en-US" sz="270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 외부 공유용 데이터 처리 기준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714375" y="6174134"/>
            <a:ext cx="230981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SILICON2 GLOBAL MARKET TREND REPORT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9983241" y="6174134"/>
            <a:ext cx="149438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PARTNER VIEW · 민감정보 제외</a:t>
            </a:r>
            <a:endParaRPr/>
          </a:p>
        </p:txBody>
      </p:sp>
      <p:pic>
        <p:nvPicPr>
          <p:cNvPr descr="image.png" id="294" name="Google Shape;29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83241" y="6193184"/>
            <a:ext cx="88999" cy="114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21"/>
          <p:cNvGraphicFramePr/>
          <p:nvPr/>
        </p:nvGraphicFramePr>
        <p:xfrm>
          <a:off x="714375" y="27451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{F9EB8854-A7D7-40BF-9070-3E01ADAF2C5A}</a:tableStyleId>
              </a:tblPr>
              <a:tblGrid>
                <a:gridCol w="2260250"/>
                <a:gridCol w="1291525"/>
                <a:gridCol w="1291525"/>
                <a:gridCol w="1614625"/>
              </a:tblGrid>
              <a:tr h="45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제품 라인업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공개 범위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자사 공유지표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91C1C"/>
                    </a:solidFill>
                  </a:tcPr>
                </a:tc>
              </a:tr>
              <a:tr h="45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어성초 라인 (Heartleaf)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B91C1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45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피치 라인 (Peach)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5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도화 라인 (Birch)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비공개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21"/>
          <p:cNvSpPr/>
          <p:nvPr/>
        </p:nvSpPr>
        <p:spPr>
          <a:xfrm>
            <a:off x="714375" y="3197572"/>
            <a:ext cx="2260252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2974627" y="3197572"/>
            <a:ext cx="1291530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266158" y="3197572"/>
            <a:ext cx="1291530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557688" y="3197572"/>
            <a:ext cx="1614636" cy="28575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7658100" y="2868066"/>
            <a:ext cx="3905250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누적 최대 기여 라인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7658100" y="3088927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어성초 라인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8958560" y="3793777"/>
            <a:ext cx="2629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비공개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722941" y="3793777"/>
            <a:ext cx="26297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비공개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10260062" y="3999458"/>
            <a:ext cx="48547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비공개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714375" y="3669952"/>
            <a:ext cx="22602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2974627" y="3669952"/>
            <a:ext cx="1291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266158" y="3669952"/>
            <a:ext cx="1291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5557688" y="3669952"/>
            <a:ext cx="1614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14375" y="4113758"/>
            <a:ext cx="22602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2974627" y="4113758"/>
            <a:ext cx="1291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266158" y="4113758"/>
            <a:ext cx="1291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5557688" y="4113758"/>
            <a:ext cx="1614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714375" y="4557563"/>
            <a:ext cx="22602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2974627" y="4557563"/>
            <a:ext cx="1291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266158" y="4557563"/>
            <a:ext cx="12915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5557688" y="4557563"/>
            <a:ext cx="16146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6050309"/>
            <a:ext cx="10763250" cy="283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193726"/>
            <a:ext cx="5238750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193726"/>
            <a:ext cx="5238750" cy="288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>
            <a:off x="885825" y="523875"/>
            <a:ext cx="111213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부록</a:t>
            </a:r>
            <a:r>
              <a:rPr b="1" i="0" lang="en-US" sz="270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기준 및 안전 원칙</a:t>
            </a:r>
            <a:endParaRPr/>
          </a:p>
        </p:txBody>
      </p:sp>
      <p:sp>
        <p:nvSpPr>
          <p:cNvPr id="326" name="Google Shape;326;p22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714375" y="6174134"/>
            <a:ext cx="230981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SILICON2 GLOBAL MARKET TREND REPORT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9983241" y="6174134"/>
            <a:ext cx="1494383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8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PARTNER VIEW · 민감정보 제외</a:t>
            </a:r>
            <a:endParaRPr/>
          </a:p>
        </p:txBody>
      </p:sp>
      <p:pic>
        <p:nvPicPr>
          <p:cNvPr descr="image.png" id="329" name="Google Shape;32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83241" y="6193184"/>
            <a:ext cx="88999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 txBox="1"/>
          <p:nvPr/>
        </p:nvSpPr>
        <p:spPr>
          <a:xfrm>
            <a:off x="1190773" y="2441376"/>
            <a:ext cx="4740436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정의 및 집계 기준</a:t>
            </a: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962025" y="2757487"/>
            <a:ext cx="4743450" cy="1905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 txBox="1"/>
          <p:nvPr/>
        </p:nvSpPr>
        <p:spPr>
          <a:xfrm>
            <a:off x="6715273" y="2441376"/>
            <a:ext cx="4740436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취급 및 취득 보안 주의</a:t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6486525" y="2757487"/>
            <a:ext cx="4743450" cy="1905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6486525" y="2919412"/>
            <a:ext cx="4743450" cy="906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사내 비밀 및 파트너 관계 보호: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본 보고서는 외부 공유 기준에 따라 원가, 마진, 거래처 식별값 및 경쟁사 실명 정보를 마스킹하여 생성되었습니다. </a:t>
            </a:r>
            <a:r>
              <a:rPr b="1" i="0" lang="en-US" sz="105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노출이 철저히 차단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되어야 합니다.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6486525" y="3921323"/>
            <a:ext cx="4743450" cy="906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거래처 송부 불가 규칙: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바이어 혹은 외부 파트너사와 전략 제휴 및 세일즈 공유 목적으로 배포할 시에는 원가와 실명을 익명화(블라인드) 처리한 </a:t>
            </a:r>
            <a:r>
              <a:rPr b="1" i="0" lang="en-US" sz="105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'외부 공유형 사본'</a:t>
            </a:r>
            <a:r>
              <a:rPr b="0" i="0" lang="en-US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을 재생성해 이용해 주시기 바랍니다.</a:t>
            </a:r>
            <a:endParaRPr/>
          </a:p>
        </p:txBody>
      </p:sp>
      <p:pic>
        <p:nvPicPr>
          <p:cNvPr descr="image.png" id="336" name="Google Shape;336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2475607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962025" y="291941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· 데이터 기준일: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2025-12-31 마감 실적 기준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962025" y="3233737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· 집계 구성 단위: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브랜드별, 국가별, SKU별 입출고 실적 단위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962025" y="3548062"/>
            <a:ext cx="4743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· 통화 환산 기준: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연평균 가중 환율을 적용한 KRW(원화) 변환 데이터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962025" y="3862387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· 신뢰성 정보 출처: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실리콘투(SILICON2) 글로벌 판매, ERP 및 내부 정산 마스터 데이터</a:t>
            </a:r>
            <a:endParaRPr/>
          </a:p>
        </p:txBody>
      </p:sp>
      <p:pic>
        <p:nvPicPr>
          <p:cNvPr descr="image.png" id="341" name="Google Shape;34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2475607"/>
            <a:ext cx="133498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412283"/>
            <a:ext cx="5372100" cy="683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3"/>
          <p:cNvSpPr txBox="1"/>
          <p:nvPr/>
        </p:nvSpPr>
        <p:spPr>
          <a:xfrm>
            <a:off x="762000" y="1259085"/>
            <a:ext cx="5640705" cy="654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Thank You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762000" y="2009179"/>
            <a:ext cx="5372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아누아 · 글로벌 시장 분석</a:t>
            </a:r>
            <a:endParaRPr/>
          </a:p>
        </p:txBody>
      </p:sp>
      <p:sp>
        <p:nvSpPr>
          <p:cNvPr id="350" name="Google Shape;350;p23"/>
          <p:cNvSpPr txBox="1"/>
          <p:nvPr/>
        </p:nvSpPr>
        <p:spPr>
          <a:xfrm>
            <a:off x="762000" y="5669458"/>
            <a:ext cx="53721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본 문서의 기밀 조항 준수에 협조해 주셔서 감사드립니다.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문의 사항: 실리콘투 글로벌 사업부 (analysis@silicon2.co.kr)</a:t>
            </a:r>
            <a:endParaRPr/>
          </a:p>
        </p:txBody>
      </p:sp>
      <p:pic>
        <p:nvPicPr>
          <p:cNvPr descr="image.png" id="351" name="Google Shape;3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762000"/>
            <a:ext cx="1604367" cy="306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